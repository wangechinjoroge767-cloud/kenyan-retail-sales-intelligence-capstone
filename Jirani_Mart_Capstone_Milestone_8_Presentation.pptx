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75320" y="1097280"/>
            <a:ext cx="1005840" cy="1097280"/>
          </a:xfrm>
          <a:prstGeom prst="roundRect">
            <a:avLst/>
          </a:prstGeom>
          <a:solidFill>
            <a:srgbClr val="48704B"/>
          </a:solidFill>
          <a:ln w="12700">
            <a:solidFill>
              <a:srgbClr val="487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02168" y="2029967"/>
            <a:ext cx="1152144" cy="109728"/>
          </a:xfrm>
          <a:prstGeom prst="rect">
            <a:avLst/>
          </a:prstGeom>
          <a:solidFill>
            <a:srgbClr val="2B2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0" y="1508760"/>
            <a:ext cx="1051560" cy="822960"/>
          </a:xfrm>
          <a:prstGeom prst="roundRect">
            <a:avLst/>
          </a:prstGeom>
          <a:solidFill>
            <a:srgbClr val="E0A423"/>
          </a:solidFill>
          <a:ln w="12700">
            <a:solidFill>
              <a:srgbClr val="E0A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28048" y="2167127"/>
            <a:ext cx="1197863" cy="109728"/>
          </a:xfrm>
          <a:prstGeom prst="rect">
            <a:avLst/>
          </a:prstGeom>
          <a:solidFill>
            <a:srgbClr val="2B2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789920" y="1051560"/>
            <a:ext cx="8229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716768" y="2167127"/>
            <a:ext cx="969264" cy="109728"/>
          </a:xfrm>
          <a:prstGeom prst="rect">
            <a:avLst/>
          </a:prstGeom>
          <a:solidFill>
            <a:srgbClr val="2B2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658368"/>
            <a:ext cx="6217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48704B"/>
                </a:solidFill>
                <a:latin typeface="Aptos"/>
              </a:defRPr>
            </a:pPr>
            <a:r>
              <a:t>JIRANI MART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353312"/>
            <a:ext cx="658368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800" b="1">
                <a:solidFill>
                  <a:srgbClr val="2B2A23"/>
                </a:solidFill>
                <a:latin typeface="Aptos Display"/>
              </a:defRPr>
            </a:pPr>
            <a:r>
              <a:t>Customer &amp; Sales</a:t>
            </a:r>
            <a:br/>
            <a:r>
              <a:t>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154680"/>
            <a:ext cx="60350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1">
                <a:solidFill>
                  <a:srgbClr val="E0A423"/>
                </a:solidFill>
                <a:latin typeface="Aptos"/>
              </a:defRPr>
            </a:pPr>
            <a:r>
              <a:t>Data Science &amp; Analytics Capstone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9039"/>
            <a:ext cx="59436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800" b="0">
                <a:solidFill>
                  <a:srgbClr val="676355"/>
                </a:solidFill>
                <a:latin typeface="Aptos"/>
              </a:defRPr>
            </a:pPr>
            <a:r>
              <a:t>A practical analysis of a simulated Kenyan retailer’s 2025 sales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4983480"/>
            <a:ext cx="5349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5138928"/>
            <a:ext cx="50292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2B2A23"/>
                </a:solidFill>
                <a:latin typeface="Aptos"/>
              </a:defRPr>
            </a:pPr>
            <a:r>
              <a:t>From raw data to insights, forecasting and a Power BI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80760"/>
            <a:ext cx="438912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76355"/>
                </a:solidFill>
                <a:latin typeface="Aptos"/>
              </a:defRPr>
            </a:pPr>
            <a:r>
              <a:rPr dirty="0"/>
              <a:t>Prepared by: Wangechi</a:t>
            </a:r>
            <a:r>
              <a:rPr lang="en-US" dirty="0"/>
              <a:t> Njoroge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5989320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00" b="1">
                <a:solidFill>
                  <a:srgbClr val="2B2A23"/>
                </a:solidFill>
                <a:latin typeface="Aptos"/>
              </a:defRPr>
            </a:pPr>
            <a:r>
              <a:t>2025 DATA  |  KENYA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2B2A23"/>
                </a:solidFill>
                <a:latin typeface="Aptos Display"/>
              </a:defRPr>
            </a:pPr>
            <a:r>
              <a:t>The project in one minute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76355"/>
                </a:solidFill>
                <a:latin typeface="Aptos"/>
              </a:defRPr>
            </a:pPr>
            <a:r>
              <a:t>What I set out to understand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76355"/>
                </a:solidFill>
                <a:latin typeface="Aptos"/>
              </a:defRPr>
            </a:pPr>
            <a:r>
              <a:t>JIRANI MART  •  DATA SCIENCE &amp;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67635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400" b="1">
                <a:solidFill>
                  <a:srgbClr val="2B2A23"/>
                </a:solidFill>
                <a:latin typeface="Aptos"/>
              </a:defRPr>
            </a:pPr>
            <a:r>
              <a:t>The goal was to turn retail sales records into information that could help a Kenyan retailer make better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3520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82296" cy="1920240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752344"/>
            <a:ext cx="31729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BUSINESS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36392"/>
            <a:ext cx="3154680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676355"/>
                </a:solidFill>
                <a:latin typeface="Aptos"/>
              </a:defRPr>
            </a:pPr>
            <a:r>
              <a:t>What sells best? When and where are sales strongest? How do promotions and payment methods relate to sales? Can past sales help forecast the next day?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606040"/>
            <a:ext cx="3520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606040"/>
            <a:ext cx="82296" cy="1920240"/>
          </a:xfrm>
          <a:prstGeom prst="rect">
            <a:avLst/>
          </a:prstGeom>
          <a:solidFill>
            <a:srgbClr val="48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752344"/>
            <a:ext cx="31729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DATA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136392"/>
            <a:ext cx="3154680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676355"/>
                </a:solidFill>
                <a:latin typeface="Aptos"/>
              </a:defRPr>
            </a:pPr>
            <a:r>
              <a:t>Simulated Jirani Mart sales for January–December 2025, with product, customer, store, promotion and payment information.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606040"/>
            <a:ext cx="3520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55279" y="2606040"/>
            <a:ext cx="82296" cy="1920240"/>
          </a:xfrm>
          <a:prstGeom prst="rect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2752344"/>
            <a:ext cx="317296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FINAL 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3136392"/>
            <a:ext cx="3154680" cy="1298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676355"/>
                </a:solidFill>
                <a:latin typeface="Aptos"/>
              </a:defRPr>
            </a:pPr>
            <a:r>
              <a:t>Prepared datasets, analysis notebooks, SQL queries, statistical tests, a forecasting model and a Power BI dashboard.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676355"/>
                </a:solidFill>
                <a:latin typeface="Aptos"/>
              </a:defRPr>
            </a:pPr>
            <a:r>
              <a:t>Important: the dataset is simulated, so the results demonstrate an analysis workflow rather than verified facts about a real retailer.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2B2A23"/>
                </a:solidFill>
                <a:latin typeface="Aptos Display"/>
              </a:defRPr>
            </a:pPr>
            <a:r>
              <a:t>Dataset and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76355"/>
                </a:solidFill>
                <a:latin typeface="Aptos"/>
              </a:defRPr>
            </a:pPr>
            <a:r>
              <a:t>The foundation for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76355"/>
                </a:solidFill>
                <a:latin typeface="Aptos"/>
              </a:defRPr>
            </a:pPr>
            <a:r>
              <a:t>JIRANI MART  •  DATA SCIENCE &amp;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67635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1965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1783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500" b="1">
                <a:solidFill>
                  <a:srgbClr val="48704B"/>
                </a:solidFill>
                <a:latin typeface="Aptos"/>
              </a:defRPr>
            </a:pPr>
            <a:r>
              <a:t>10,035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21408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0">
                <a:solidFill>
                  <a:srgbClr val="676355"/>
                </a:solidFill>
                <a:latin typeface="Aptos"/>
              </a:defRPr>
            </a:pPr>
            <a:r>
              <a:t>sales line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463040"/>
            <a:ext cx="1965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1664208"/>
            <a:ext cx="1783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500" b="1">
                <a:solidFill>
                  <a:srgbClr val="48704B"/>
                </a:solidFill>
                <a:latin typeface="Aptos"/>
              </a:defRPr>
            </a:pPr>
            <a:r>
              <a:t>12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121408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0">
                <a:solidFill>
                  <a:srgbClr val="676355"/>
                </a:solidFill>
                <a:latin typeface="Aptos"/>
              </a:defRPr>
            </a:pPr>
            <a:r>
              <a:t>Jan–Dec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463040"/>
            <a:ext cx="1965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49240" y="1664208"/>
            <a:ext cx="1783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500" b="1">
                <a:solidFill>
                  <a:srgbClr val="48704B"/>
                </a:solidFill>
                <a:latin typeface="Aptos"/>
              </a:defRPr>
            </a:pPr>
            <a:r>
              <a:t>1,200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121408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0">
                <a:solidFill>
                  <a:srgbClr val="676355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463040"/>
            <a:ext cx="1965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1664208"/>
            <a:ext cx="1783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500" b="1">
                <a:solidFill>
                  <a:srgbClr val="48704B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121408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0">
                <a:solidFill>
                  <a:srgbClr val="676355"/>
                </a:solidFill>
                <a:latin typeface="Aptos"/>
              </a:defRPr>
            </a:pPr>
            <a:r>
              <a:t>stores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1463040"/>
            <a:ext cx="1965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21240" y="1664208"/>
            <a:ext cx="1783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500" b="1">
                <a:solidFill>
                  <a:srgbClr val="48704B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121408"/>
            <a:ext cx="1783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0">
                <a:solidFill>
                  <a:srgbClr val="676355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97180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2971800"/>
            <a:ext cx="82296" cy="1417320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311810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PYTHON + PANDAS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502152"/>
            <a:ext cx="3108960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676355"/>
                </a:solidFill>
                <a:latin typeface="Aptos"/>
              </a:defRPr>
            </a:pPr>
            <a:r>
              <a:t>Cleaning, feature engineering, exploratory analysis, statistical testing and forecasting.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297180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1688" y="2971800"/>
            <a:ext cx="82296" cy="1417320"/>
          </a:xfrm>
          <a:prstGeom prst="rect">
            <a:avLst/>
          </a:prstGeom>
          <a:solidFill>
            <a:srgbClr val="48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62855" y="311810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POSTGRESQL + pgADMIN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2855" y="3502152"/>
            <a:ext cx="3108960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676355"/>
                </a:solidFill>
                <a:latin typeface="Aptos"/>
              </a:defRPr>
            </a:pPr>
            <a:r>
              <a:t>Storing related tables and asking business questions with SQL.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91856" y="297180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991856" y="2971800"/>
            <a:ext cx="82296" cy="1417320"/>
          </a:xfrm>
          <a:prstGeom prst="rect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93024" y="311810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POWER BI + 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4" y="3502152"/>
            <a:ext cx="3108960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676355"/>
                </a:solidFill>
                <a:latin typeface="Aptos"/>
              </a:defRPr>
            </a:pPr>
            <a:r>
              <a:t>Building the dashboard and keeping project files organised and shareable.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98348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676355"/>
                </a:solidFill>
                <a:latin typeface="Aptos"/>
              </a:defRPr>
            </a:pPr>
            <a:r>
              <a:t>Other tools used: VS Code, Jupyter Notebook and Excel for working with the data and project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384048"/>
            <a:ext cx="502920" cy="502920"/>
          </a:xfrm>
          <a:prstGeom prst="ellipse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B2A23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29184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2B2A23"/>
                </a:solidFill>
                <a:latin typeface="Aptos Display"/>
              </a:defRPr>
            </a:pPr>
            <a:r>
              <a:t>Milestone 1 — Project framing and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76355"/>
                </a:solidFill>
                <a:latin typeface="Aptos"/>
              </a:defRPr>
            </a:pPr>
            <a:r>
              <a:t>JIRANI MART  •  DATA SCIENCE &amp;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67635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44200" cy="9144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102870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B2A23"/>
                </a:solidFill>
                <a:latin typeface="Aptos"/>
              </a:defRPr>
            </a:pPr>
            <a:r>
              <a:t>I defined the business problem, the questions I wanted to answer and the scope of the project. I set up the repository and explored the dataset before starting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48704B"/>
                </a:solidFill>
                <a:latin typeface="Aptos"/>
              </a:defRPr>
            </a:pPr>
            <a:r>
              <a:t>WHAT I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6629400" cy="2560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Clarified the goal: customer and sales intelligence for a Kenyan retailer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Reviewed the available fields and planned the analysis workflow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Organised the project files in GitHub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74320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2999232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E0A423"/>
                </a:solidFill>
                <a:latin typeface="Aptos"/>
              </a:defRPr>
            </a:pPr>
            <a:r>
              <a:t>WHY IT MATTERED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474720"/>
            <a:ext cx="27889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B2A23"/>
                </a:solidFill>
                <a:latin typeface="Aptos"/>
              </a:defRPr>
            </a:pPr>
            <a:r>
              <a:t>a clear question and structure kept the analysis focused.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384048"/>
            <a:ext cx="502920" cy="502920"/>
          </a:xfrm>
          <a:prstGeom prst="ellipse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B2A23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29184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2B2A23"/>
                </a:solidFill>
                <a:latin typeface="Aptos Display"/>
              </a:defRPr>
            </a:pPr>
            <a:r>
              <a:t>Milestone 2 — Data cleaning and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76355"/>
                </a:solidFill>
                <a:latin typeface="Aptos"/>
              </a:defRPr>
            </a:pPr>
            <a:r>
              <a:t>JIRANI MART  •  DATA SCIENCE &amp;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67635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44200" cy="9144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102870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B2A23"/>
                </a:solidFill>
                <a:latin typeface="Aptos"/>
              </a:defRPr>
            </a:pPr>
            <a:r>
              <a:t>I checked the data quality, handled missing promotion labels, standardised the data and prepared separate files for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48704B"/>
                </a:solidFill>
                <a:latin typeface="Aptos"/>
              </a:defRPr>
            </a:pPr>
            <a:r>
              <a:t>WHAT I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6629400" cy="2560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Worked with 10,035 sales rows and 20 original columns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Filled 5,657 missing promotion labels with a consistent label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Flagged unusual values for review without deleting sales records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Created time-based features such as month, weekday and weekend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74320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2999232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E0A423"/>
                </a:solidFill>
                <a:latin typeface="Aptos"/>
              </a:defRPr>
            </a:pPr>
            <a:r>
              <a:t>WHY IT MATTERED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474720"/>
            <a:ext cx="27889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B2A23"/>
                </a:solidFill>
                <a:latin typeface="Aptos"/>
              </a:defRPr>
            </a:pPr>
            <a:r>
              <a:t>analysis is more reliable when data issues are visible and handled consistently.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76355"/>
                </a:solidFill>
                <a:latin typeface="Aptos"/>
              </a:defRPr>
            </a:pPr>
            <a:r>
              <a:t>Quality note: unusual values were flagged for review; records were not automatically removed.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384048"/>
            <a:ext cx="502920" cy="502920"/>
          </a:xfrm>
          <a:prstGeom prst="ellipse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B2A23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29184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2B2A23"/>
                </a:solidFill>
                <a:latin typeface="Aptos Display"/>
              </a:defRPr>
            </a:pPr>
            <a:r>
              <a:t>Milestone 3 — Exploratory Data Analysis (EDA)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76355"/>
                </a:solidFill>
                <a:latin typeface="Aptos"/>
              </a:defRPr>
            </a:pPr>
            <a:r>
              <a:t>JIRANI MART  •  DATA SCIENCE &amp;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67635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44200" cy="9144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102870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B2A23"/>
                </a:solidFill>
                <a:latin typeface="Aptos"/>
              </a:defRPr>
            </a:pPr>
            <a:r>
              <a:t>I explored patterns in sales across time, locations, product categories, promotions and payment methods using summaries and visualisations.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48704B"/>
                </a:solidFill>
                <a:latin typeface="Aptos"/>
              </a:defRPr>
            </a:pPr>
            <a:r>
              <a:t>WHAT I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6629400" cy="2560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Compared sales across months and days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Explored differences by county, product and payment method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Used charts to identify patterns worth investigating further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74320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2999232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E0A423"/>
                </a:solidFill>
                <a:latin typeface="Aptos"/>
              </a:defRPr>
            </a:pPr>
            <a:r>
              <a:t>WHY IT MATTERED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474720"/>
            <a:ext cx="27889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B2A23"/>
                </a:solidFill>
                <a:latin typeface="Aptos"/>
              </a:defRPr>
            </a:pPr>
            <a:r>
              <a:t>EDA helped turn a large table into questions that could be tested.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384048"/>
            <a:ext cx="502920" cy="502920"/>
          </a:xfrm>
          <a:prstGeom prst="ellipse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B2A23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29184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2B2A23"/>
                </a:solidFill>
                <a:latin typeface="Aptos Display"/>
              </a:defRPr>
            </a:pPr>
            <a:r>
              <a:t>Milestone 4 — SQL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76355"/>
                </a:solidFill>
                <a:latin typeface="Aptos"/>
              </a:defRPr>
            </a:pPr>
            <a:r>
              <a:t>JIRANI MART  •  DATA SCIENCE &amp;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67635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44200" cy="9144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102870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B2A23"/>
                </a:solidFill>
                <a:latin typeface="Aptos"/>
              </a:defRPr>
            </a:pPr>
            <a:r>
              <a:t>I loaded the related retail tables into PostgreSQL and used SQL to answer structured business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48704B"/>
                </a:solidFill>
                <a:latin typeface="Aptos"/>
              </a:defRPr>
            </a:pPr>
            <a:r>
              <a:t>WHAT I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6629400" cy="2560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Worked with customer, product, store and sales tables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Used grouping, aggregation, joins and sorting to summarise sales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Produced query-based views of sales 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74320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2999232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E0A423"/>
                </a:solidFill>
                <a:latin typeface="Aptos"/>
              </a:defRPr>
            </a:pPr>
            <a:r>
              <a:t>WHY IT MATTERED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474720"/>
            <a:ext cx="27889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B2A23"/>
                </a:solidFill>
                <a:latin typeface="Aptos"/>
              </a:defRPr>
            </a:pPr>
            <a:r>
              <a:t>SQL shows how business teams can retrieve answers from a relational database.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384048"/>
            <a:ext cx="502920" cy="502920"/>
          </a:xfrm>
          <a:prstGeom prst="ellipse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B2A23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29184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2B2A23"/>
                </a:solidFill>
                <a:latin typeface="Aptos Display"/>
              </a:defRPr>
            </a:pPr>
            <a:r>
              <a:t>Milestone 5 — Hypothesis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76355"/>
                </a:solidFill>
                <a:latin typeface="Aptos"/>
              </a:defRPr>
            </a:pPr>
            <a:r>
              <a:t>JIRANI MART  •  DATA SCIENCE &amp;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67635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44200" cy="9144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102870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B2A23"/>
                </a:solidFill>
                <a:latin typeface="Aptos"/>
              </a:defRPr>
            </a:pPr>
            <a:r>
              <a:t>I tested whether the observed average sales differences for promotions and M-Pesa were statistically significant.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48704B"/>
                </a:solidFill>
                <a:latin typeface="Aptos"/>
              </a:defRPr>
            </a:pPr>
            <a:r>
              <a:t>WHAT I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6629400" cy="2560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Promotion vs no promotion: mean difference about −KES 61.71; p = 0.118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M-Pesa vs other payment methods: mean difference about −KES 51.07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Neither test provided sufficient evidence of a statistically significant difference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74320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2999232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E0A423"/>
                </a:solidFill>
                <a:latin typeface="Aptos"/>
              </a:defRPr>
            </a:pPr>
            <a:r>
              <a:t>WHY IT MATTERED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474720"/>
            <a:ext cx="27889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B2A23"/>
                </a:solidFill>
                <a:latin typeface="Aptos"/>
              </a:defRPr>
            </a:pPr>
            <a:r>
              <a:t>I used statistical evidence rather than assuming that a visible difference was meaningful.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76355"/>
                </a:solidFill>
                <a:latin typeface="Aptos"/>
              </a:defRPr>
            </a:pPr>
            <a:r>
              <a:t>These are observational comparisons; they do not prove that promotions or payment method caused a change in sales.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384048"/>
            <a:ext cx="502920" cy="502920"/>
          </a:xfrm>
          <a:prstGeom prst="ellipse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B2A23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29184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2B2A23"/>
                </a:solidFill>
                <a:latin typeface="Aptos Display"/>
              </a:defRPr>
            </a:pPr>
            <a:r>
              <a:t>Milestone 6 — Predictive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76355"/>
                </a:solidFill>
                <a:latin typeface="Aptos"/>
              </a:defRPr>
            </a:pPr>
            <a:r>
              <a:t>JIRANI MART  •  DATA SCIENCE &amp;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67635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44200" cy="9144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102870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B2A23"/>
                </a:solidFill>
                <a:latin typeface="Aptos"/>
              </a:defRPr>
            </a:pPr>
            <a:r>
              <a:t>I built and evaluated a daily sales forecasting model and compared it with a simple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48704B"/>
                </a:solidFill>
                <a:latin typeface="Aptos"/>
              </a:defRPr>
            </a:pPr>
            <a:r>
              <a:t>WHAT I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6629400" cy="2560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Used Jan–Sep 2025 for training and Oct–Dec for validation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Baseline MAE: KES 7,489.73; Random Forest MAE: KES 6,097.06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Random Forest reduced MAE by about 18.6% versus the baseline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The model still missed some high and low sales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74320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2999232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E0A423"/>
                </a:solidFill>
                <a:latin typeface="Aptos"/>
              </a:defRPr>
            </a:pPr>
            <a:r>
              <a:t>WHY IT MATTERED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474720"/>
            <a:ext cx="27889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B2A23"/>
                </a:solidFill>
                <a:latin typeface="Aptos"/>
              </a:defRPr>
            </a:pPr>
            <a:r>
              <a:t>forecasts may support planning, but they are estimates and need monitoring.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76355"/>
                </a:solidFill>
                <a:latin typeface="Aptos"/>
              </a:defRPr>
            </a:pPr>
            <a:r>
              <a:t>Validation was one-day-ahead: previous actual sales were used to build lag features.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384048"/>
            <a:ext cx="502920" cy="502920"/>
          </a:xfrm>
          <a:prstGeom prst="ellipse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B2A23"/>
                </a:solidFill>
                <a:latin typeface="Aptos Display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29184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2B2A23"/>
                </a:solidFill>
                <a:latin typeface="Aptos Display"/>
              </a:defRPr>
            </a:pPr>
            <a:r>
              <a:t>Milestone 7 — 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76355"/>
                </a:solidFill>
                <a:latin typeface="Aptos"/>
              </a:defRPr>
            </a:pPr>
            <a:r>
              <a:t>JIRANI MART  •  DATA SCIENCE &amp;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67635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44200" cy="9144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102870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B2A23"/>
                </a:solidFill>
                <a:latin typeface="Aptos"/>
              </a:defRPr>
            </a:pPr>
            <a:r>
              <a:t>I created an interactive dashboard to bring the key sales measures and comparisons into one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48704B"/>
                </a:solidFill>
                <a:latin typeface="Aptos"/>
              </a:defRPr>
            </a:pPr>
            <a:r>
              <a:t>WHAT I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6629400" cy="2560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KPI cards for net sales, transaction count and average transaction value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Monthly trend, county, product category and payment-method views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Promotion analysis and a county slicer for filtering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74320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2999232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E0A423"/>
                </a:solidFill>
                <a:latin typeface="Aptos"/>
              </a:defRPr>
            </a:pPr>
            <a:r>
              <a:t>WHY IT MATTERED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474720"/>
            <a:ext cx="27889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B2A23"/>
                </a:solidFill>
                <a:latin typeface="Aptos"/>
              </a:defRPr>
            </a:pPr>
            <a:r>
              <a:t>the dashboard gives a manager a quicker way to explore the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66928" y="384048"/>
            <a:ext cx="502920" cy="502920"/>
          </a:xfrm>
          <a:prstGeom prst="ellipse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B2A23"/>
                </a:solidFill>
                <a:latin typeface="Aptos Display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329184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2B2A23"/>
                </a:solidFill>
                <a:latin typeface="Aptos Display"/>
              </a:defRPr>
            </a:pPr>
            <a:r>
              <a:t>Milestone 8 — Documentation and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76355"/>
                </a:solidFill>
                <a:latin typeface="Aptos"/>
              </a:defRPr>
            </a:pPr>
            <a:r>
              <a:t>JIRANI MART  •  DATA SCIENCE &amp;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67635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10744200" cy="9144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102870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2B2A23"/>
                </a:solidFill>
                <a:latin typeface="Aptos"/>
              </a:defRPr>
            </a:pPr>
            <a:r>
              <a:t>I brought the work together so another person can understand the project, find the analysis files and follow the main findings.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1">
                <a:solidFill>
                  <a:srgbClr val="48704B"/>
                </a:solidFill>
                <a:latin typeface="Aptos"/>
              </a:defRPr>
            </a:pPr>
            <a:r>
              <a:t>WHAT I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6629400" cy="2560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Organised the repository and project outputs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Documented the workflow and key results</a:t>
            </a:r>
          </a:p>
          <a:p>
            <a:pPr>
              <a:spcAft>
                <a:spcPts val="1000"/>
              </a:spcAft>
              <a:defRPr sz="1600">
                <a:solidFill>
                  <a:srgbClr val="2B2A23"/>
                </a:solidFill>
                <a:latin typeface="Aptos"/>
              </a:defRPr>
            </a:pPr>
            <a:r>
              <a:t>•  Prepared this presentation to explain the milestones and recommendations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743200"/>
            <a:ext cx="33375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2999232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1">
                <a:solidFill>
                  <a:srgbClr val="E0A423"/>
                </a:solidFill>
                <a:latin typeface="Aptos"/>
              </a:defRPr>
            </a:pPr>
            <a:r>
              <a:t>WHY IT MATTERED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474720"/>
            <a:ext cx="278892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B2A23"/>
                </a:solidFill>
                <a:latin typeface="Aptos"/>
              </a:defRPr>
            </a:pPr>
            <a:r>
              <a:t>a project should communicate its process and results, not just contain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2B2A23"/>
                </a:solidFill>
                <a:latin typeface="Aptos Display"/>
              </a:defRPr>
            </a:pPr>
            <a:r>
              <a:t>What the analysis tells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76355"/>
                </a:solidFill>
                <a:latin typeface="Aptos"/>
              </a:defRPr>
            </a:pPr>
            <a:r>
              <a:t>Key findings to explain in the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76355"/>
                </a:solidFill>
                <a:latin typeface="Aptos"/>
              </a:defRPr>
            </a:pPr>
            <a:r>
              <a:t>JIRANI MART  •  DATA SCIENCE &amp;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67635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82296" cy="1508760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6362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SALES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47672"/>
            <a:ext cx="3108960" cy="886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676355"/>
                </a:solidFill>
                <a:latin typeface="Aptos"/>
              </a:defRPr>
            </a:pPr>
            <a:r>
              <a:t>The dashboard reports approximately KES 6.73 million in net sales across about 5,000 transactions.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41732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61688" y="1417320"/>
            <a:ext cx="82296" cy="1508760"/>
          </a:xfrm>
          <a:prstGeom prst="rect">
            <a:avLst/>
          </a:prstGeom>
          <a:solidFill>
            <a:srgbClr val="48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5" y="156362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PAYMENT &amp; 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1947672"/>
            <a:ext cx="3108960" cy="886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676355"/>
                </a:solidFill>
                <a:latin typeface="Aptos"/>
              </a:defRPr>
            </a:pPr>
            <a:r>
              <a:t>M-Pesa was the most-used payment method in the analysed dataset. Nairobi was the leading county by sales in the dashboard.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417320"/>
            <a:ext cx="34747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91856" y="1417320"/>
            <a:ext cx="82296" cy="1508760"/>
          </a:xfrm>
          <a:prstGeom prst="rect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3024" y="1563624"/>
            <a:ext cx="312724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PROMOTION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1947672"/>
            <a:ext cx="3108960" cy="886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676355"/>
                </a:solidFill>
                <a:latin typeface="Aptos"/>
              </a:defRPr>
            </a:pPr>
            <a:r>
              <a:t>The observed average difference was not statistically significant at the 5% level (p = 0.118).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337560"/>
            <a:ext cx="82296" cy="1600200"/>
          </a:xfrm>
          <a:prstGeom prst="rect">
            <a:avLst/>
          </a:prstGeom>
          <a:solidFill>
            <a:srgbClr val="487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483864"/>
            <a:ext cx="49103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FORECASTING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867911"/>
            <a:ext cx="4892040" cy="9784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676355"/>
                </a:solidFill>
                <a:latin typeface="Aptos"/>
              </a:defRPr>
            </a:pPr>
            <a:r>
              <a:t>Random Forest improved validation MAE by about 18.6% compared with the naive baseline, but peak and low days remained difficult.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337560"/>
            <a:ext cx="5257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D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3337560"/>
            <a:ext cx="82296" cy="1600200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73368" y="3483864"/>
            <a:ext cx="49103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867911"/>
            <a:ext cx="4892040" cy="9784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676355"/>
                </a:solidFill>
                <a:latin typeface="Aptos"/>
              </a:defRPr>
            </a:pPr>
            <a:r>
              <a:t>The data is simulated and covers one year. Statistical comparisons are observational, and the forecast should be treated as decision support—not certainty.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676355"/>
                </a:solidFill>
                <a:latin typeface="Aptos"/>
              </a:defRPr>
            </a:pPr>
            <a:r>
              <a:t>Use the dashboard and notebook outputs as the evidence for each result when presenting.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A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700" b="1">
                <a:solidFill>
                  <a:srgbClr val="2B2A23"/>
                </a:solidFill>
                <a:latin typeface="Aptos Display"/>
              </a:defRPr>
            </a:pPr>
            <a:r>
              <a:t>Recommendations for a retailer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77824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676355"/>
                </a:solidFill>
                <a:latin typeface="Aptos"/>
              </a:defRPr>
            </a:pPr>
            <a:r>
              <a:t>Practical next steps suggested by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89611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900" b="0">
                <a:solidFill>
                  <a:srgbClr val="676355"/>
                </a:solidFill>
                <a:latin typeface="Aptos"/>
              </a:defRPr>
            </a:pPr>
            <a:r>
              <a:t>JIRANI MART  •  DATA SCIENCE &amp;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676355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362456"/>
            <a:ext cx="438912" cy="438912"/>
          </a:xfrm>
          <a:prstGeom prst="ellipse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2A23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25880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Plan stock around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325880"/>
            <a:ext cx="68580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676355"/>
                </a:solidFill>
                <a:latin typeface="Aptos"/>
              </a:defRPr>
            </a:pPr>
            <a:r>
              <a:t>Use monthly, weekday and product patterns to support replenishment decisions.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258568"/>
            <a:ext cx="438912" cy="438912"/>
          </a:xfrm>
          <a:prstGeom prst="ellipse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2A23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21991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Test promotions carefully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221991"/>
            <a:ext cx="68580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676355"/>
                </a:solidFill>
                <a:latin typeface="Aptos"/>
              </a:defRPr>
            </a:pPr>
            <a:r>
              <a:t>Track margin as well as sales, and compare campaigns using a clear test design.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54680"/>
            <a:ext cx="438912" cy="438912"/>
          </a:xfrm>
          <a:prstGeom prst="ellipse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2A23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18104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Make payment data useful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118104"/>
            <a:ext cx="68580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676355"/>
                </a:solidFill>
                <a:latin typeface="Aptos"/>
              </a:defRPr>
            </a:pPr>
            <a:r>
              <a:t>Monitor payment mix and ensure transaction records are complete and consistent.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050791"/>
            <a:ext cx="438912" cy="438912"/>
          </a:xfrm>
          <a:prstGeom prst="ellipse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2A23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014215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Use forecasts as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014215"/>
            <a:ext cx="68580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676355"/>
                </a:solidFill>
                <a:latin typeface="Aptos"/>
              </a:defRPr>
            </a:pPr>
            <a:r>
              <a:t>Compare predictions with actual sales regularly and retrain when performance changes.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946904"/>
            <a:ext cx="438912" cy="438912"/>
          </a:xfrm>
          <a:prstGeom prst="ellipse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B2A23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1032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2B2A23"/>
                </a:solidFill>
                <a:latin typeface="Aptos"/>
              </a:defRPr>
            </a:pPr>
            <a:r>
              <a:t>Maintain data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910328"/>
            <a:ext cx="68580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676355"/>
                </a:solidFill>
                <a:latin typeface="Aptos"/>
              </a:defRPr>
            </a:pPr>
            <a:r>
              <a:t>Review flagged values, standardise labels and document how missing data is handled.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15000"/>
            <a:ext cx="12191695" cy="1143000"/>
          </a:xfrm>
          <a:prstGeom prst="rect">
            <a:avLst/>
          </a:prstGeom>
          <a:solidFill>
            <a:srgbClr val="FFC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4572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48704B"/>
                </a:solidFill>
                <a:latin typeface="Aptos"/>
              </a:defRPr>
            </a:pPr>
            <a:r>
              <a:t>JIRANI 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68580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4200" b="1">
                <a:solidFill>
                  <a:srgbClr val="2B2A23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217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300" b="1">
                <a:solidFill>
                  <a:srgbClr val="E0A423"/>
                </a:solidFill>
                <a:latin typeface="Aptos"/>
              </a:defRPr>
            </a:pPr>
            <a:r>
              <a:t>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79552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676355"/>
                </a:solidFill>
                <a:latin typeface="Aptos"/>
              </a:defRPr>
            </a:pPr>
            <a:r>
              <a:t>Customer &amp; Sales Intelligence  |  Data Science &amp; Analytics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371600"/>
            <a:ext cx="685800" cy="1554480"/>
          </a:xfrm>
          <a:prstGeom prst="roundRect">
            <a:avLst/>
          </a:prstGeom>
          <a:solidFill>
            <a:srgbClr val="48704B"/>
          </a:solidFill>
          <a:ln w="12700">
            <a:solidFill>
              <a:srgbClr val="487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66759" y="2788920"/>
            <a:ext cx="777240" cy="91440"/>
          </a:xfrm>
          <a:prstGeom prst="rect">
            <a:avLst/>
          </a:prstGeom>
          <a:solidFill>
            <a:srgbClr val="2B2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81160" y="1051560"/>
            <a:ext cx="822960" cy="1874519"/>
          </a:xfrm>
          <a:prstGeom prst="roundRect">
            <a:avLst/>
          </a:prstGeom>
          <a:solidFill>
            <a:srgbClr val="E0A423"/>
          </a:solidFill>
          <a:ln w="12700">
            <a:solidFill>
              <a:srgbClr val="E0A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5440" y="2788920"/>
            <a:ext cx="914400" cy="91440"/>
          </a:xfrm>
          <a:prstGeom prst="rect">
            <a:avLst/>
          </a:prstGeom>
          <a:solidFill>
            <a:srgbClr val="2B2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87000" y="1554480"/>
            <a:ext cx="685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241280" y="2788920"/>
            <a:ext cx="777240" cy="91440"/>
          </a:xfrm>
          <a:prstGeom prst="rect">
            <a:avLst/>
          </a:prstGeom>
          <a:solidFill>
            <a:srgbClr val="2B2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6108192"/>
            <a:ext cx="749807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1">
                <a:solidFill>
                  <a:srgbClr val="2B2A23"/>
                </a:solidFill>
                <a:latin typeface="Aptos"/>
              </a:defRPr>
            </a:pPr>
            <a:r>
              <a:t>Built from the project’s analysis and dashboard outputs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1338</Words>
  <Application>Microsoft Office PowerPoint</Application>
  <PresentationFormat>Widescreen</PresentationFormat>
  <Paragraphs>172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yramngechi@gmail.com</cp:lastModifiedBy>
  <cp:revision>2</cp:revision>
  <dcterms:created xsi:type="dcterms:W3CDTF">2013-01-27T09:14:16Z</dcterms:created>
  <dcterms:modified xsi:type="dcterms:W3CDTF">2026-10-27T22:37:23Z</dcterms:modified>
  <cp:category/>
</cp:coreProperties>
</file>